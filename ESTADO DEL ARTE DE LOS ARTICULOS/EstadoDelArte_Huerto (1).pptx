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bo0zOt48ypBUwPhIuqYRXMcs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94844B-9106-4D72-8E5A-3BC107F8E4F6}">
  <a:tblStyle styleId="{2494844B-9106-4D72-8E5A-3BC107F8E4F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188720" y="274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UNIVERSIDAD CONTINENTAL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Avances del proyecto: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arte, matrices de operacionalización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matriz fusionada.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“Sistema de Monitoreo Inteligente de Huerto Doméstico mediante Redes Neuronales Convolucionales y Machine Learning para la Detección de Enfermedades y Predicción de Riego, Huancayo, 2026”</a:t>
            </a:r>
            <a:endParaRPr b="0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749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Asignatura: Taller de Investigación 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Docente: Dr. Maglioni Arana Caparachin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00400" y="1005840"/>
            <a:ext cx="2743200" cy="2926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886200" y="1097280"/>
            <a:ext cx="1371600" cy="1371600"/>
          </a:xfrm>
          <a:prstGeom prst="ellipse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886200" y="109728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200400" y="2606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Apellidos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Nombres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Ingeniería de Sistemas e Informática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274320" y="182880"/>
            <a:ext cx="822960" cy="822960"/>
          </a:xfrm>
          <a:prstGeom prst="ellipse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274320" y="1828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371600" y="137160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371600" y="2743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Matrices de operacionalización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274320" y="91440"/>
            <a:ext cx="85953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ARTÍCULO 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Author(s):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331720" y="8686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2423160" y="9144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Mohanty, S. P., Hughes, D. P., &amp; Salathé, 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 of paper: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331720" y="15544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2423160" y="16002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Using Deep Learning for Image-Based Plant Disease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Journal: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2331720" y="22402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423160" y="22860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Frontiers in Plant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Volume (issue):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331720" y="29260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2423160" y="29718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 – pag (year):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331720" y="36118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2423160" y="36576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1419 (2016)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hace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8288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27432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Revisa estudios previos con SVM y técnicas clásicas de visión computacional para detección de enfermedades en plantas. Destaca sus limitaciones de escalabilidad y dependencia de características manuales extraídas por expertos.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(críticas a otros trabajos)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333756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Critica los métodos clásicos por no generalizar bien ante la diversidad de enfermedades y cultivos. Argumenta la necesidad de un sistema automatizado y escalable que no dependa de conocimiento experto previo.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aporte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30936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40080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Propone el uso de CNN profundas entrenadas con el dataset PlantVillage (54,000+ imágenes, 26 cultivos, 38 enfermedades). El sistema logra detección automática de enfermedades con impacto directo en seguridad alimentaria global y reducción del uso de pesticidas.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obtener el aporte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considera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8288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29260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Aplica arquitectura GoogLeNet/Inception con transfer learning desde ImageNet. Proceso: preprocesamiento → data augmentation → fine-tuning → evaluación comparativa con y sin segmentación de fondo.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resolver el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considerado por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66344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77316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Experimentos comparativos con imágenes de laboratorio vs. campo real. Usa validación cruzada y matrices de confusión para identificar clases problemáticas.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Métricas que el autor usa y el resultado que obtiene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82880" y="2926080"/>
            <a:ext cx="877824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92608" y="3017520"/>
            <a:ext cx="85587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99.35% accuracy en PlantVillage (condiciones controladas). Caída crítica al ~31% en imágenes de campo real (domain shift). Esta brecha justifica directamente el proyecto de adaptación local.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Observaciones y/o críticas suyas al artículo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74320" y="685800"/>
            <a:ext cx="8595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74320" y="685800"/>
            <a:ext cx="109728" cy="347472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502920" y="822960"/>
            <a:ext cx="8183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Artículo fundamental que establece la base CNN+PlantVillage. Su principal limitación —domain shift— es la brecha que el proyecto cierra con fine-tuning en imágenes de Junín.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— Artículo 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9" name="Google Shape;139;p8"/>
          <p:cNvGraphicFramePr/>
          <p:nvPr/>
        </p:nvGraphicFramePr>
        <p:xfrm>
          <a:off x="27432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828800"/>
                <a:gridCol w="2560325"/>
                <a:gridCol w="2194550"/>
              </a:tblGrid>
              <a:tr h="87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87782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independiente: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CNN (GoogLeNet/Inception)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3F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 CNN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arquitectura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Ficha de registro técnico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Estrategia de entrenamiento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Tamaño del dataset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Condiciones de captura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274320" y="91440"/>
            <a:ext cx="85953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ARTÍCULO 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Author(s):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2331720" y="8686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2423160" y="9144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Ferentinos, K. 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 of paper: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2331720" y="15544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2423160" y="16002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Deep learning models for plant disease detection and 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Journal: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331720" y="22402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2423160" y="22860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Computers and Electronics in Agriculture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Volume (issue):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2331720" y="29260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2423160" y="29718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145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 – pag (year):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331720" y="36118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2423160" y="36576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311–318 (2018)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hace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8288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27432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Revisa literatura sobre deep learning en plantas, señalando la falta de comparaciones sistemáticas entre arquitecturas CNN en el mismo dataset. Menciona estudios con VGG, AlexNet y GoogLeNet con resultados prometedores pero no comparables entre sí.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(críticas a otros trabajos)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33756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Critica la ausencia de evidencia comparativa sobre qué arquitectura CNN es óptima para detección de enfermedades en plantas, lo que dificulta la selección para implementaciones prácticas.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aporte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30936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40080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Comparación exhaustiva de AlexNet, VGG y GoogLeNet entrenadas sobre PlantVillage (87,848 imágenes, 25 plantas, 58 enfermedades). Identifica la arquitectura más eficiente en precisión y costo computacional para dispositivos de bajo recurso.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obtener el aporte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considera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8288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29260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Entrena cada arquitectura desde cero y con transfer learning bajo las mismas condiciones. Divide dataset 80/20. Compara accuracy, tiempo de inferencia y uso de memoria por arquitectura.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resolver el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considerado por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66344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77316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Experimentos sistemáticos con cada arquitectura bajo condiciones idénticas. Analiza el impacto del tamaño del dataset en la precisión de cada modelo.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Métricas que el autor usa y el resultado que obtiene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82880" y="2926080"/>
            <a:ext cx="877824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292608" y="3017520"/>
            <a:ext cx="85587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GoogLeNet con transfer learning: 99.53% accuracy. AlexNet: 97.3%. VGG: 98.8%. Transfer learning supera consistentemente al entrenamiento desde cero en todos los modelos.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Observaciones y/o críticas suyas al artículo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274320" y="685800"/>
            <a:ext cx="8595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274320" y="685800"/>
            <a:ext cx="109728" cy="347472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502920" y="822960"/>
            <a:ext cx="8183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Orienta la selección arquitectural del proyecto. Su comparativa sistemática es el método de referencia para los experimentos. Limitación: no evalúa condiciones de campo ni cultivos andinos.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— Artículo 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13"/>
          <p:cNvGraphicFramePr/>
          <p:nvPr/>
        </p:nvGraphicFramePr>
        <p:xfrm>
          <a:off x="27432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828800"/>
                <a:gridCol w="2560325"/>
                <a:gridCol w="2194550"/>
              </a:tblGrid>
              <a:tr h="87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87782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independiente: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Arquitecturas CNN (AlexNet, VGG, GoogLeNet)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3F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arquitectura CNN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Evaluación del modelo (sklearn)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Estrategia (scratch vs. TL)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Rendimiento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por arquitectura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Tiempo de inferencia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274320" y="91440"/>
            <a:ext cx="85953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ARTÍCULO 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Author(s):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2331720" y="8686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2423160" y="9144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Too, E. C., Yujian, L., Njuki, S., &amp; Yingchun, 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 of paper: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2331720" y="15544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2423160" y="16002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A comparative study of fine-tuning deep learning models for plant disease identification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Journal: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2331720" y="22402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2423160" y="22860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Computers and Electronics in Agriculture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Volume (issue):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2331720" y="29260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2423160" y="29718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161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 – pag (year):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2331720" y="36118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2423160" y="36576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272–279 (2019)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hace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18288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27432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Revisa literatura sobre transfer learning en clasificación agrícola. Destaca que modelos preentrenados en ImageNet superan a los entrenados desde cero con datasets pequeños, pero señala falta de consenso sobre la estrategia óptima de fine-tuning.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(críticas a otros trabajos)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333756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Critica la ausencia de comparaciones sistemáticas de estrategias de fine-tuning (capas congeladas vs. descongeladas) en datasets agrícolas pequeños. Sin evidencia comparativa, los investigadores eligen configuraciones subóptimas.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aporte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630936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640080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Compara VGG16, VGG19, ResNet50 e Inception-V4 con diferentes estrategias de fine-tuning para clasificación de enfermedades en plantas del dataset PlantVillage. Establece la estrategia óptima de fine-tuning para datasets agrícolas limitados.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obtener el aporte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considera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18288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"/>
          <p:cNvSpPr/>
          <p:nvPr/>
        </p:nvSpPr>
        <p:spPr>
          <a:xfrm>
            <a:off x="29260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Experimenta variando capas congeladas durante fine-tuning. Aplica data augmentation (rotación, flip, zoom). Compara con modelos baseline entrenados desde cero. Usa split 80/10/10.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resolver el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considerado por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466344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477316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Experimentos controlados con cada configuración de fine-tuning. Analiza curvas de aprendizaje. Compara rendimiento con y sin data augmentation.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Métricas que el autor usa y el resultado que obtiene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82880" y="2926080"/>
            <a:ext cx="877824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292608" y="3017520"/>
            <a:ext cx="85587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Inception-V4 con fine-tuning completo: 99.76% accuracy. ResNet50: 99.48%. Modelos desde cero: 95-97%. Confirma superioridad del transfer learning para datasets agrícolas.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Observaciones y/o críticas suyas al artículo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274320" y="685800"/>
            <a:ext cx="8595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274320" y="685800"/>
            <a:ext cx="109728" cy="347472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502920" y="822960"/>
            <a:ext cx="8183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Artículo metodológicamente más relevante: proporciona la estrategia óptima de fine-tuning replicable en el proyecto. Limitación: solo en condiciones controladas, sin validación en campo.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— Artículo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5" name="Google Shape;315;p18"/>
          <p:cNvGraphicFramePr/>
          <p:nvPr/>
        </p:nvGraphicFramePr>
        <p:xfrm>
          <a:off x="27432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828800"/>
                <a:gridCol w="2560325"/>
                <a:gridCol w="2194550"/>
              </a:tblGrid>
              <a:tr h="87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87782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independiente: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Estrategia de fine-tuning CNN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3F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Configuración del fine-tuning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Capas congeladas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Ficha de registro técnico / sklearn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Learning rate aplicado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Precisión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por configuración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 promedio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9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274320" y="91440"/>
            <a:ext cx="85953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ARTÍCULO 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Author(s):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2331720" y="8686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2423160" y="9144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Rangarajan, A. K., Purushothaman, R., &amp; Ramesh, 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 of paper: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2331720" y="15544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9"/>
          <p:cNvSpPr/>
          <p:nvPr/>
        </p:nvSpPr>
        <p:spPr>
          <a:xfrm>
            <a:off x="2423160" y="16002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Tomato crop disease classification using pre-trained deep learning algorithm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Journal: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2331720" y="22402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2423160" y="22860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Procedia Computer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Volume (issue):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2331720" y="29260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2423160" y="29718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133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9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 – pag (year):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2331720" y="36118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2423160" y="36576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1040–1047 (2018)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0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hace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18288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27432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Revisa estudios de clasificación de enfermedades en tomate y solanáceas con SVM, k-NN y CNN simples. Señala limitaciones de precisión en datasets con alta variabilidad visual y la dependencia de características manuales en métodos clásicos.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(críticas a otros trabajos)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333756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Critica que los estudios con CNN no aprovechan el transfer learning, lo que limita el rendimiento con datasets pequeños, situación común en agricultura de pequeña escala.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aporte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30936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640080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Aplica AlexNet y VGGNet con transfer learning para clasificar 9 enfermedades en tomate (familia Solanaceae, como la papa). Alta relevancia para el proyecto dado que las enfermedades del tomate y la papa comparten características visuales (tizón tardío, tizón temprano).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obtener el aporte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considera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18288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29260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Proceso: carga de imágenes PlantVillage (9 clases tomate) → transfer learning AlexNet/VGGNet → ajuste capas finales → data augmentation → evaluación en split 70/15/15.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1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resolver el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considerado por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466344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477316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Pruebas con diferentes tasas de aprendizaje. Compara rendimiento con y sin data augmentation. Visualiza imágenes mal clasificadas para identificar patrones de error.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Métricas que el autor usa y el resultado que obtiene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/>
          <p:nvPr/>
        </p:nvSpPr>
        <p:spPr>
          <a:xfrm>
            <a:off x="182880" y="2926080"/>
            <a:ext cx="877824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292608" y="3017520"/>
            <a:ext cx="85587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VGGNet: 91.2% accuracy. AlexNet: 88.9%. Data augmentation mejora ~3-4% en ambos modelos. F1-Score por clase de enfermedad reportado.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Observaciones y/o críticas suyas al artículo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274320" y="685800"/>
            <a:ext cx="8595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274320" y="685800"/>
            <a:ext cx="109728" cy="347472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502920" y="822960"/>
            <a:ext cx="8183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Valioso por aplicación en solanáceas (familia de la papa). Su metodología con VGGNet es directamente transferible. El proyecto añade valor con imágenes de campo real de Junín.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— Artículo 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3" name="Google Shape;403;p23"/>
          <p:cNvGraphicFramePr/>
          <p:nvPr/>
        </p:nvGraphicFramePr>
        <p:xfrm>
          <a:off x="27432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828800"/>
                <a:gridCol w="2560325"/>
                <a:gridCol w="2194550"/>
              </a:tblGrid>
              <a:tr h="87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87782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independiente: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CNN con Transfer Learning (AlexNet/VGGNet)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3F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CNN preentrenada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Evaluación del modelo (sklearn)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Técnicas de augmentation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Precisión de clasificación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general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 por clase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274320" y="91440"/>
            <a:ext cx="85953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ARTÍCULO 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274320" y="8686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Author(s):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2331720" y="8686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2423160" y="9144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Kamilaris, A., &amp; Prenafeta-Boldú, F. X.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274320" y="15544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Title of paper: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2331720" y="15544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2423160" y="16002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Deep learning in agriculture: A survey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274320" y="22402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Journal: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2331720" y="22402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2423160" y="22860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Computers and Electronics in Agriculture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274320" y="29260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Volume (issue):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2331720" y="29260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2423160" y="29718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147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4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4"/>
          <p:cNvSpPr/>
          <p:nvPr/>
        </p:nvSpPr>
        <p:spPr>
          <a:xfrm>
            <a:off x="274320" y="361188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 – pag (year):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2331720" y="3611880"/>
            <a:ext cx="649224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4"/>
          <p:cNvSpPr/>
          <p:nvPr/>
        </p:nvSpPr>
        <p:spPr>
          <a:xfrm>
            <a:off x="2423160" y="3657600"/>
            <a:ext cx="6309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70–90 (2018)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5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5"/>
          <p:cNvSpPr/>
          <p:nvPr/>
        </p:nvSpPr>
        <p:spPr>
          <a:xfrm>
            <a:off x="18288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del arte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hace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18288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27432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Revisión sistemática de 40+ estudios de deep learning en agricultura (2006-2017). Clasifica aplicaciones: detección de enfermedades, clasificación de cultivos, estimación de rendimiento, análisis de suelos. CNN son las más utilizadas (78% de estudios).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324612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Motivación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(críticas a otros trabajos)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324612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5"/>
          <p:cNvSpPr/>
          <p:nvPr/>
        </p:nvSpPr>
        <p:spPr>
          <a:xfrm>
            <a:off x="333756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Critica la fragmentación del campo: cada estudio aborda un cultivo específico sin visión de conjunto. Señala falta de benchmarks estándar y limitada validación en condiciones reales de campo.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5"/>
          <p:cNvSpPr/>
          <p:nvPr/>
        </p:nvSpPr>
        <p:spPr>
          <a:xfrm>
            <a:off x="6309360" y="13716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Descripción 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aporte del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6309360" y="822960"/>
            <a:ext cx="2834640" cy="4160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"/>
          <p:cNvSpPr/>
          <p:nvPr/>
        </p:nvSpPr>
        <p:spPr>
          <a:xfrm>
            <a:off x="6400800" y="914400"/>
            <a:ext cx="265176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Proporciona taxonomía completa de deep learning en agricultura. Identifica mejores prácticas, datasets disponibles (PlantVillage) y métricas estándar. Impacto: guía a investigadores y desarrolladores agrícolas a nivel global, especialmente en países en desarrollo.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18288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obtener el aporte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considera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18288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29260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Revisión bibliográfica sistemática con protocolo PRISMA. Analiza evolución del rendimiento, factores de éxito (tamaño dataset, arquitectura, regularización) y propone agenda de investigación futura.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4663440" y="137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Proceso para resolver el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considerado por el autor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4663440" y="594360"/>
            <a:ext cx="429768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4773168" y="685800"/>
            <a:ext cx="407822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Busca en Scopus, Web of Science y Google Scholar. Clasifica por área de aplicación, arquitectura, tipo de datos, métricas y tamaño de dataset. Analiza tendencias y gaps de investigación.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Métricas que el autor usa y el resultado que obtiene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182880" y="2926080"/>
            <a:ext cx="8778240" cy="19659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292608" y="3017520"/>
            <a:ext cx="855878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87% de estudios reportan mejoras sobre baseline. Accuracy promedio en detección de enfermedades: 94.3% (rango 85-99%). CNN superan métodos clásicos en 92% de casos comparados.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Observaciones y/o críticas suyas al artículo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274320" y="685800"/>
            <a:ext cx="859536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274320" y="685800"/>
            <a:ext cx="109728" cy="3474720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502920" y="822960"/>
            <a:ext cx="8183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1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3A1A"/>
                </a:solidFill>
                <a:latin typeface="Arial"/>
                <a:ea typeface="Arial"/>
                <a:cs typeface="Arial"/>
                <a:sym typeface="Arial"/>
              </a:rPr>
              <a:t>Marco teórico esencial del proyecto. Identifica PlantVillage como dataset estándar, CNN+Transfer Learning como mejor práctica, y la adaptación local como gap de investigación por cerrar.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— Artículo 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1" name="Google Shape;491;p28"/>
          <p:cNvGraphicFramePr/>
          <p:nvPr/>
        </p:nvGraphicFramePr>
        <p:xfrm>
          <a:off x="27432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828800"/>
                <a:gridCol w="2560325"/>
                <a:gridCol w="2194550"/>
              </a:tblGrid>
              <a:tr h="87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87782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independiente: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Técnicas de deep learning en agricultura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3F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Tipos de arquitectura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CNN aplicadas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Revisión bibliográfica sistemática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RNN aplicadas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Efectividad de los modelos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A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promedio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877825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Mejora sobre baseline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9"/>
          <p:cNvSpPr/>
          <p:nvPr/>
        </p:nvSpPr>
        <p:spPr>
          <a:xfrm>
            <a:off x="274320" y="182880"/>
            <a:ext cx="822960" cy="822960"/>
          </a:xfrm>
          <a:prstGeom prst="ellipse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9"/>
          <p:cNvSpPr/>
          <p:nvPr/>
        </p:nvSpPr>
        <p:spPr>
          <a:xfrm>
            <a:off x="274320" y="1828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1371600" y="16459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Matriz de operacionalización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9"/>
          <p:cNvSpPr/>
          <p:nvPr/>
        </p:nvSpPr>
        <p:spPr>
          <a:xfrm>
            <a:off x="1371600" y="2651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Fusionada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0"/>
          <p:cNvSpPr/>
          <p:nvPr/>
        </p:nvSpPr>
        <p:spPr>
          <a:xfrm>
            <a:off x="182880" y="91440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fusionada — Variable Independiente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1" name="Google Shape;511;p30"/>
          <p:cNvGraphicFramePr/>
          <p:nvPr/>
        </p:nvGraphicFramePr>
        <p:xfrm>
          <a:off x="18288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920250"/>
                <a:gridCol w="3017525"/>
                <a:gridCol w="1828800"/>
              </a:tblGrid>
              <a:tr h="63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633550">
                <a:tc row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independiente: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Modelo Híbrido CNN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Transfer Learning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3F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Arquitectura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CNN preentrenada (MobileNetV2, EfficientNet-Lite, ResNet50)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Ficha de registro técnico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Estrategia de fine-tuning (capas congeladas, learning rate)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 y preprocesamiento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Composición del dataset (PlantVillage + imágenes locales)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Técnicas de data augmentation aplicadas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Adaptación local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Número de imágenes recolectadas en huertos de Huancayo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Diversidad de condiciones domésticas (interior/exterior, maceta/suelo)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EE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1"/>
          <p:cNvSpPr/>
          <p:nvPr/>
        </p:nvSpPr>
        <p:spPr>
          <a:xfrm>
            <a:off x="182880" y="91440"/>
            <a:ext cx="8778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2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F2D"/>
                </a:solidFill>
                <a:latin typeface="Arial"/>
                <a:ea typeface="Arial"/>
                <a:cs typeface="Arial"/>
                <a:sym typeface="Arial"/>
              </a:rPr>
              <a:t>Matriz de operacionalización fusionada — Variable Dependiente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0" name="Google Shape;520;p31"/>
          <p:cNvGraphicFramePr/>
          <p:nvPr/>
        </p:nvGraphicFramePr>
        <p:xfrm>
          <a:off x="182880" y="50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{2494844B-9106-4D72-8E5A-3BC107F8E4F6}</a:tableStyleId>
              </a:tblPr>
              <a:tblGrid>
                <a:gridCol w="2011675"/>
                <a:gridCol w="1920250"/>
                <a:gridCol w="3017525"/>
                <a:gridCol w="1828800"/>
              </a:tblGrid>
              <a:tr h="633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Indicadores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Instrumentos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2D"/>
                    </a:solidFill>
                  </a:tcPr>
                </a:tc>
              </a:tr>
              <a:tr h="633550">
                <a:tc rowSpan="6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dependiente: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Detección de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enfermedades en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huerto doméstico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E7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Precisión del modelo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general del modelo en conjunto de prueba (%)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Evaluación del modelo (sklearn). Cuestionario de usabilidad (Likert).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 promedio ponderado entre clases de enfermedades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Generalización en campo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 en imágenes reales de huertos domésticos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Diferencia de accuracy entre dataset base y dataset local (%)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Usabilidad del sistema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Puntuación de satisfacción del usuario (Likert 1-5)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6335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de usuarios que usan el sistema sin asistencia técnica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ACC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97BC62"/>
          </a:solidFill>
          <a:ln cap="flat" cmpd="sng" w="12700">
            <a:solidFill>
              <a:srgbClr val="97BC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Apellidos Nombres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7BC6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7BC62"/>
                </a:solidFill>
                <a:latin typeface="Arial"/>
                <a:ea typeface="Arial"/>
                <a:cs typeface="Arial"/>
                <a:sym typeface="Arial"/>
              </a:rPr>
              <a:t>Ingeniería de Sistemas e Informática — Universidad Continental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2026-03-29T05:37:28Z</dcterms:created>
  <dc:creator>PptxGenJS</dc:creator>
</cp:coreProperties>
</file>