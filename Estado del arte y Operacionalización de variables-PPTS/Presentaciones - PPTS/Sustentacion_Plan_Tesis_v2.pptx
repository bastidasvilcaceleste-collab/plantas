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Presupuesto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bubble3D val="0"/>
            <c:spPr>
              <a:solidFill>
                <a:srgbClr val="5EEAD4"/>
              </a:solidFill>
              <a:effectLst/>
            </c:spPr>
          </c:dPt>
          <c:dPt>
            <c:idx val="4"/>
            <c:bubble3D val="0"/>
            <c:spPr>
              <a:solidFill>
                <a:srgbClr val="A7F3D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RRHH (48%)</c:v>
                </c:pt>
                <c:pt idx="1">
                  <c:v>Equipamiento (19%)</c:v>
                </c:pt>
                <c:pt idx="2">
                  <c:v>Software/Nube (12%)</c:v>
                </c:pt>
                <c:pt idx="3">
                  <c:v>Materiales (9%)</c:v>
                </c:pt>
                <c:pt idx="4">
                  <c:v>Difusión (12%)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6200</c:v>
                </c:pt>
                <c:pt idx="1">
                  <c:v>2500</c:v>
                </c:pt>
                <c:pt idx="2">
                  <c:v>1550</c:v>
                </c:pt>
                <c:pt idx="3">
                  <c:v>1100</c:v>
                </c:pt>
                <c:pt idx="4">
                  <c:v>1500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4114800" cy="41148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20040"/>
            <a:ext cx="2926080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UNIVERSIDAD CONTINENTAL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FACULTAD DE INGENIERÍA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Escuela de Ingeniería de Sistemas e Informática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146304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17320"/>
            <a:ext cx="8046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IMPLEMENTACIÓN DE UN SISTEMA DE INTERMEDIACIÓN LABORAL MEDIANTE MACHINE LEARNING Y NLP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2C39A"/>
                </a:solidFill>
              </a:rPr>
              <a:t>para la Reducción de Brechas de Acceso al Empleo en Articulación con la DRTPE Junín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56432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456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TESIS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Bach. William Mikeiel Rojas Peña  ·  Bach. Carlos Alberto Tovar Sánchez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2026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0" y="3703320"/>
            <a:ext cx="1691640" cy="292608"/>
          </a:xfrm>
          <a:prstGeom prst="roundRect">
            <a:avLst>
              <a:gd name="adj" fmla="val 31250"/>
            </a:avLst>
          </a:prstGeom>
          <a:solidFill>
            <a:srgbClr val="0D2137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37033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Machine Learning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223760" y="3703320"/>
            <a:ext cx="1691640" cy="292608"/>
          </a:xfrm>
          <a:prstGeom prst="roundRect">
            <a:avLst>
              <a:gd name="adj" fmla="val 31250"/>
            </a:avLst>
          </a:prstGeom>
          <a:solidFill>
            <a:srgbClr val="0D2137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37033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NLP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303520" y="4114800"/>
            <a:ext cx="1691640" cy="292608"/>
          </a:xfrm>
          <a:prstGeom prst="roundRect">
            <a:avLst>
              <a:gd name="adj" fmla="val 31250"/>
            </a:avLst>
          </a:prstGeom>
          <a:solidFill>
            <a:srgbClr val="0D2137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41148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Intermediación Laboral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223760" y="4114800"/>
            <a:ext cx="1691640" cy="292608"/>
          </a:xfrm>
          <a:prstGeom prst="roundRect">
            <a:avLst>
              <a:gd name="adj" fmla="val 31250"/>
            </a:avLst>
          </a:prstGeom>
          <a:solidFill>
            <a:srgbClr val="0D2137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41148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DRTPE Junín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>
                    <a:alpha val="15000"/>
                  </a:srgbClr>
                </a:solidFill>
              </a:rPr>
              <a:t>01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2C39A"/>
                </a:solidFill>
              </a:rPr>
              <a:t>CAPÍTULO 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PLANTEAMIENTO DEL ESTUDIO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18288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Planteamiento · Formulación · Objetivos · Justificación · Hipótesis · Variables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</a:rPr>
              <a:t>PLANTEAMIENTO DEL PROBLEMA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0D2137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0972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051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Industria 4.0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84632" y="137160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Reconfiguró los mercados laborales. La economía gig dejó al margen a trabajadores de oficios sin instrumentos digitales.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754880" y="96012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0D2137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0972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03520" y="1051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Alta Informalidad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919472" y="137160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En Perú la informalidad supera el 70% de la PEA ocupada; en Junín alcanza el 75%, evidenciando desarticulación entre oferta y demanda.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20040" y="233172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0D2137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46888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8680" y="2423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Tres Grupos Críticos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484632" y="274320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Trabajadores de oficios con experiencia no certificada, personas sin experiencia previa y trabajadores con trayectorias informales de aprendizaje.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4754880" y="233172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0D2137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46888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03520" y="2423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Sistemas Convencionales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919472" y="274320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Operan sobre credenciales académicas y no logran representar perfiles heterogéneos ni orientar la identidad laboral.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320040" y="3703320"/>
            <a:ext cx="8503920" cy="1188720"/>
          </a:xfrm>
          <a:prstGeom prst="roundRect">
            <a:avLst>
              <a:gd name="adj" fmla="val 7692"/>
            </a:avLst>
          </a:prstGeom>
          <a:solidFill>
            <a:srgbClr val="0D2137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84048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68680" y="379476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Propuesta desde IS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84632" y="41148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Software con ML y NLP que construya, represente y empareje perfiles inteligentemente, articulado con la DRTPE-Junín.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</a:rPr>
              <a:t>FORMULACIÓN DEL PROBLEMA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960120"/>
          </a:xfrm>
          <a:prstGeom prst="roundRect">
            <a:avLst>
              <a:gd name="adj" fmla="val 9524"/>
            </a:avLst>
          </a:prstGeom>
          <a:solidFill>
            <a:srgbClr val="028090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C39A"/>
                </a:solidFill>
              </a:rPr>
              <a:t>PROBLEMA GENERAL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¿En qué medida la implementación de un sistema de intermediación laboral mediante Machine Learning y NLP contribuye a la reducción de brechas de acceso al empleo de los trabajadores de la región Junín, en articulación con la DRTPE-Junín?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C39A"/>
                </a:solidFill>
              </a:rPr>
              <a:t>PROBLEMAS ESPECÍFICOS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2359152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D213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4048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PE1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9768" y="2587752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¿En qué medida los enfoques de filtrado algorítmico influyen en la inserción laboral efectiva de los trabajadores de la región Junín?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4754880" y="2359152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D213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4048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PE2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64608" y="2587752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¿Cómo la capacidad de procesamiento NLP incide en la segmentación y equidad del mercado laboral de los trabajadores de la región Junín?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320040" y="3044952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D213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0906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PE3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9768" y="3273552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¿De qué manera las métricas de precisión cuantitativa contribuyen a la visibilidad y acceso al mercado laboral formal de los trabajadores?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4754880" y="3044952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D213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0906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PE4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64608" y="3273552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¿Cómo los enfoques de filtrado algorítmico impactan en la segmentación y equidad del mercado laboral de la región Junín?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320040" y="3730752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D213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7764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PE5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29768" y="3959352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¿En qué medida la capacidad de procesamiento NLP influye en la visibilidad y acceso al mercado laboral formal de la región Junín?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754880" y="3730752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D213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7764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PE6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64608" y="3959352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¿Cómo las métricas de precisión cuantitativa inciden en la inserción laboral efectiva de los trabajadores de la región Junín?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</a:rPr>
              <a:t>OBJETIVOS DE LA INVESTIGACIÓN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868680"/>
          </a:xfrm>
          <a:prstGeom prst="roundRect">
            <a:avLst>
              <a:gd name="adj" fmla="val 10526"/>
            </a:avLst>
          </a:prstGeom>
          <a:solidFill>
            <a:srgbClr val="028090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C39A"/>
                </a:solidFill>
              </a:rPr>
              <a:t>OBJETIVO GENERAL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11612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Determinar en qué medida la implementación de un sistema de intermediación laboral mediante Machine Learning y NLP contribuye a la reducción de brechas de acceso al empleo de los trabajadores de la región Junín, en articulación con la DRTPE-Junín.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901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C39A"/>
                </a:solidFill>
              </a:rPr>
              <a:t>OBJETIVOS ESPECÍFICOS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2212848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0D213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2286000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Determinar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en qué medida los enfoques de filtrado algorítmico influyen en la inserción laboral efectiva de los trabajadores de la región Junín.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0" y="2212848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0D213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2286000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Analizar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cómo la capacidad de procesamiento NLP incide en la segmentación y equidad del mercado laboral de la región Junín.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852928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0D213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926080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Evaluar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de qué manera las métricas de precisión cuantitativa contribuyen a la visibilidad y acceso al mercado laboral formal.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54880" y="2852928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0D213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2926080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Establecer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cómo los enfoques de filtrado algorítmico impactan en la segmentación y equidad del mercado laboral de la región Junín.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3493008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0D213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3566160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Determinar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en qué medida la capacidad de procesamiento NLP influye en la visibilidad y acceso al mercado laboral formal de la región Junín.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54880" y="3493008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0D213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3566160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Analizar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cómo las métricas de precisión cuantitativa inciden en la inserción laboral efectiva de los trabajadores de la región Junín.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</a:rPr>
              <a:t>JUSTIFICACIÓN DE LA INVESTIGACIÓN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1371600"/>
          </a:xfrm>
          <a:prstGeom prst="roundRect">
            <a:avLst>
              <a:gd name="adj" fmla="val 8000"/>
            </a:avLst>
          </a:prstGeom>
          <a:solidFill>
            <a:srgbClr val="0D2137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028090">
              <a:alpha val="7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801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12471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2C39A"/>
                </a:solidFill>
              </a:rPr>
              <a:t>JUSTIFICACIÓN TEÓRICA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828800" y="14173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Aporta evidencia empírica sobre la aplicación de Machine Learning y NLP en contextos de alta informalidad laboral, integrando enfoques de filtrado algorítmico y alineación semántica con marcos de segmentación de mercados en economías emergentes.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0040" y="2468880"/>
            <a:ext cx="8503920" cy="1371600"/>
          </a:xfrm>
          <a:prstGeom prst="roundRect">
            <a:avLst>
              <a:gd name="adj" fmla="val 8000"/>
            </a:avLst>
          </a:prstGeom>
          <a:solidFill>
            <a:srgbClr val="0D2137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246888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028090">
              <a:alpha val="7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78892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263347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2C39A"/>
                </a:solidFill>
              </a:rPr>
              <a:t>JUSTIFICACIÓN PRÁCTICA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828800" y="29260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Responde a una necesidad concreta en Junín, donde más del 75% de la PEA es informal, beneficiando a los tres grupos de usuarios escasamente atendidos por las bolsas de trabajo convencionales, con aplicabilidad institucional inmediata en la DRTPE-Junín.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" y="3977640"/>
            <a:ext cx="8503920" cy="1371600"/>
          </a:xfrm>
          <a:prstGeom prst="roundRect">
            <a:avLst>
              <a:gd name="adj" fmla="val 8000"/>
            </a:avLst>
          </a:prstGeom>
          <a:solidFill>
            <a:srgbClr val="0D2137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397764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028090">
              <a:alpha val="7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29768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14223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2C39A"/>
                </a:solidFill>
              </a:rPr>
              <a:t>JUSTIFICACIÓN METODOLÓGICA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828800" y="44348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Emplea diseño cuantitativo aplicado con enfoque experimental y métricas estándar (F1-score, precisión, recall y similitud coseno), evaluadas con datos reales de la Bolsa de Trabajo de la DRTPE-Junín, otorgando validez ecológica y comparabilidad internacional.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</a:rPr>
              <a:t>HIPÓTESIS DE LA INVESTIGACIÓN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822960"/>
          </a:xfrm>
          <a:prstGeom prst="roundRect">
            <a:avLst>
              <a:gd name="adj" fmla="val 11111"/>
            </a:avLst>
          </a:prstGeom>
          <a:solidFill>
            <a:srgbClr val="028090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C39A"/>
                </a:solidFill>
              </a:rPr>
              <a:t>HIPÓTESIS GENERAL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11612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La implementación de un sistema de intermediación laboral mediante Machine Learning y NLP contribuye significativamente a la reducción de brechas de acceso al empleo de los trabajadores de la región Junín, en articulación con la DRTPE-Junín.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847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C39A"/>
                </a:solidFill>
              </a:rPr>
              <a:t>HIPÓTESIS ESPECÍFICAS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0D213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2231136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H1: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Los enfoques de filtrado algorítmico influyen significativamente en la inserción laboral efectiva de los trabajadores de la región Junín.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0" y="2176272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0D213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2231136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H2: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La capacidad de procesamiento NLP incide significativamente en la segmentación y equidad del mercado laboral de la región Junín.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779776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0D213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834640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H3: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Las métricas de precisión cuantitativa contribuyen significativamente a la visibilidad y acceso al mercado laboral formal en la región Junín.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54880" y="2779776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0D213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2834640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H4: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Los enfoques de filtrado algorítmico impactan significativamente en la segmentación y equidad del mercado laboral de la región Junín.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3383280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0D213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3438144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H5: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La capacidad de procesamiento NLP influye significativamente en la visibilidad y acceso al mercado laboral formal de la región Junín.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54880" y="3383280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0D213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3438144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H6: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Las métricas de precisión cuantitativa inciden significativamente en la inserción laboral efectiva de los trabajadores de la región Junín.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</a:rPr>
              <a:t>VARIABLES DE INVESTIGACIÓN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97480" cy="4069080"/>
          </a:xfrm>
          <a:prstGeom prst="roundRect">
            <a:avLst>
              <a:gd name="adj" fmla="val 4068"/>
            </a:avLst>
          </a:prstGeom>
          <a:solidFill>
            <a:srgbClr val="0D2137"/>
          </a:solidFill>
          <a:ln w="1016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28090">
                <a:alpha val="8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00584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V. INDEPENDIENTE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84048" y="141732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IA (ML y NLP)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84048" y="2084832"/>
            <a:ext cx="2478024" cy="585216"/>
          </a:xfrm>
          <a:prstGeom prst="roundRect">
            <a:avLst>
              <a:gd name="adj" fmla="val 10938"/>
            </a:avLst>
          </a:prstGeom>
          <a:solidFill>
            <a:srgbClr val="0A1628"/>
          </a:solidFill>
          <a:ln w="508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" y="2139696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D1. Filtrado algorítmico: precisión, recall y F1-score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84048" y="2743200"/>
            <a:ext cx="2478024" cy="585216"/>
          </a:xfrm>
          <a:prstGeom prst="roundRect">
            <a:avLst>
              <a:gd name="adj" fmla="val 10938"/>
            </a:avLst>
          </a:prstGeom>
          <a:solidFill>
            <a:srgbClr val="0A1628"/>
          </a:solidFill>
          <a:ln w="508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2798064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D2. Procesamiento NLP: extracción NER F1, similitud coseno CV-oferta, clasificación de habilidades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84048" y="3401568"/>
            <a:ext cx="2478024" cy="585216"/>
          </a:xfrm>
          <a:prstGeom prst="roundRect">
            <a:avLst>
              <a:gd name="adj" fmla="val 10938"/>
            </a:avLst>
          </a:prstGeom>
          <a:solidFill>
            <a:srgbClr val="0A1628"/>
          </a:solidFill>
          <a:ln w="508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8912" y="3456432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D3. Métricas de precisión: tiempo de respuesta (ms) y reducción de sesgos (%)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136392" y="914400"/>
            <a:ext cx="2697480" cy="4069080"/>
          </a:xfrm>
          <a:prstGeom prst="roundRect">
            <a:avLst>
              <a:gd name="adj" fmla="val 4068"/>
            </a:avLst>
          </a:prstGeom>
          <a:solidFill>
            <a:srgbClr val="0D2137"/>
          </a:solidFill>
          <a:ln w="1016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136392" y="91440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00A896">
              <a:alpha val="80000"/>
            </a:srgbClr>
          </a:solidFill>
          <a:ln w="12700">
            <a:solidFill>
              <a:srgbClr val="00A896">
                <a:alpha val="8000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100584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30752" y="100584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V. INTERMEDIA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3246120" y="141732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Plataforma Web de Intermediación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246120" y="2084832"/>
            <a:ext cx="2478024" cy="585216"/>
          </a:xfrm>
          <a:prstGeom prst="roundRect">
            <a:avLst>
              <a:gd name="adj" fmla="val 10938"/>
            </a:avLst>
          </a:prstGeom>
          <a:solidFill>
            <a:srgbClr val="0A1628"/>
          </a:solidFill>
          <a:ln w="508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300984" y="2139696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D1. Arquitectura y funcionalidad: modularidad, uptime, usabilidad SUS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3246120" y="2743200"/>
            <a:ext cx="2478024" cy="585216"/>
          </a:xfrm>
          <a:prstGeom prst="roundRect">
            <a:avLst>
              <a:gd name="adj" fmla="val 10938"/>
            </a:avLst>
          </a:prstGeom>
          <a:solidFill>
            <a:srgbClr val="0A1628"/>
          </a:solidFill>
          <a:ln w="508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300984" y="2798064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D2. Gestión de perfiles: perfiles registrados, ofertas publicadas y vacantes cubiertas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3246120" y="3401568"/>
            <a:ext cx="2478024" cy="585216"/>
          </a:xfrm>
          <a:prstGeom prst="roundRect">
            <a:avLst>
              <a:gd name="adj" fmla="val 10938"/>
            </a:avLst>
          </a:prstGeom>
          <a:solidFill>
            <a:srgbClr val="0A1628"/>
          </a:solidFill>
          <a:ln w="508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300984" y="3456432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D3. Matching: tasa de éxito, tiempo de reclutamiento y relevancia Top-K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5998464" y="914400"/>
            <a:ext cx="2697480" cy="4069080"/>
          </a:xfrm>
          <a:prstGeom prst="roundRect">
            <a:avLst>
              <a:gd name="adj" fmla="val 4068"/>
            </a:avLst>
          </a:prstGeom>
          <a:solidFill>
            <a:srgbClr val="0D2137"/>
          </a:solidFill>
          <a:ln w="1016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5998464" y="91440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80000"/>
              </a:srgbClr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1005840"/>
            <a:ext cx="411480" cy="41148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592824" y="100584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V. DEPENDIENTE</a:t>
            </a:r>
            <a:endParaRPr lang="en-US" sz="750" dirty="0"/>
          </a:p>
        </p:txBody>
      </p:sp>
      <p:sp>
        <p:nvSpPr>
          <p:cNvPr id="30" name="Text 25"/>
          <p:cNvSpPr/>
          <p:nvPr/>
        </p:nvSpPr>
        <p:spPr>
          <a:xfrm>
            <a:off x="6108192" y="141732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Reducción de Brechas de Empleo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6108192" y="2084832"/>
            <a:ext cx="2478024" cy="585216"/>
          </a:xfrm>
          <a:prstGeom prst="roundRect">
            <a:avLst>
              <a:gd name="adj" fmla="val 10938"/>
            </a:avLst>
          </a:prstGeom>
          <a:solidFill>
            <a:srgbClr val="0A1628"/>
          </a:solidFill>
          <a:ln w="508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163056" y="2139696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D1. Inserción laboral: tasa de colocación, tiempo de inserción, contratos formalizados</a:t>
            </a:r>
            <a:endParaRPr lang="en-US" sz="750" dirty="0"/>
          </a:p>
        </p:txBody>
      </p:sp>
      <p:sp>
        <p:nvSpPr>
          <p:cNvPr id="33" name="Shape 28"/>
          <p:cNvSpPr/>
          <p:nvPr/>
        </p:nvSpPr>
        <p:spPr>
          <a:xfrm>
            <a:off x="6108192" y="2743200"/>
            <a:ext cx="2478024" cy="585216"/>
          </a:xfrm>
          <a:prstGeom prst="roundRect">
            <a:avLst>
              <a:gd name="adj" fmla="val 10938"/>
            </a:avLst>
          </a:prstGeom>
          <a:solidFill>
            <a:srgbClr val="0A1628"/>
          </a:solidFill>
          <a:ln w="508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163056" y="2798064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D2. Segmentación y equidad: índice de equidad, inclusión grupos vulnerables</a:t>
            </a:r>
            <a:endParaRPr lang="en-US" sz="750" dirty="0"/>
          </a:p>
        </p:txBody>
      </p:sp>
      <p:sp>
        <p:nvSpPr>
          <p:cNvPr id="35" name="Shape 30"/>
          <p:cNvSpPr/>
          <p:nvPr/>
        </p:nvSpPr>
        <p:spPr>
          <a:xfrm>
            <a:off x="6108192" y="3401568"/>
            <a:ext cx="2478024" cy="585216"/>
          </a:xfrm>
          <a:prstGeom prst="roundRect">
            <a:avLst>
              <a:gd name="adj" fmla="val 10938"/>
            </a:avLst>
          </a:prstGeom>
          <a:solidFill>
            <a:srgbClr val="0A1628"/>
          </a:solidFill>
          <a:ln w="508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163056" y="3456432"/>
            <a:ext cx="2368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D3. Visibilidad y acceso formal: perfil visible, tasa de formalización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</a:rPr>
              <a:t>OPERACIONALIZACIÓN DE VARIABLES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393192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Dimensiones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Indicadores principales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2C39A"/>
                          </a:solidFill>
                        </a:rPr>
                        <a:t>V. Independiente: IA (Machine Learning y NLP)</a:t>
                      </a:r>
                      <a:endParaRPr lang="en-US" sz="8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Filtrado algorítmico · Procesamiento NLP · Métricas de precisión</a:t>
                      </a:r>
                      <a:endParaRPr lang="en-US" sz="8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Precisión, recall y F1-score · NER F1 y similitud coseno · Tiempo de respuesta y reducción de sesgos</a:t>
                      </a:r>
                      <a:endParaRPr lang="en-US" sz="8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A896"/>
                          </a:solidFill>
                        </a:rPr>
                        <a:t>V. Intermedia: Plataforma Web de Intermediación</a:t>
                      </a:r>
                      <a:endParaRPr lang="en-US" sz="8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Arquitectura y funcionalidad · Gestión de perfiles · Efectividad del matching</a:t>
                      </a:r>
                      <a:endParaRPr lang="en-US" sz="8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Uptime y usabilidad SUS · Perfiles y vacantes cubiertas · Tasa de matching y relevancia Top-K</a:t>
                      </a:r>
                      <a:endParaRPr lang="en-US" sz="8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2C39A"/>
                          </a:solidFill>
                        </a:rPr>
                        <a:t>V. Dependiente: Reducción de Brechas de Acceso al Empleo</a:t>
                      </a:r>
                      <a:endParaRPr lang="en-US" sz="85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Inserción laboral efectiva · Segmentación y equidad · Visibilidad y acceso formal</a:t>
                      </a:r>
                      <a:endParaRPr lang="en-US" sz="8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Tasa de colocación y tiempo de inserción · Índice de equidad · Tasa de formalización laboral</a:t>
                      </a:r>
                      <a:endParaRPr lang="en-US" sz="8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457200"/>
            <a:ext cx="5486400" cy="54864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028090">
                    <a:alpha val="30000"/>
                  </a:srgbClr>
                </a:solidFill>
              </a:rPr>
              <a:t>02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2C39A"/>
                </a:solidFill>
              </a:rPr>
              <a:t>CAPÍTULO II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 TEÓRICO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18288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Antecedentes · Bases Teóricas · Definición de Términos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</a:rPr>
              <a:t>ANTECEDENTES DE LA INVESTIGACIÓN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🌐  INTERNACIONALES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0" y="9144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🇵🇪  NACIONALES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0D2137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33502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896"/>
                </a:solidFill>
              </a:rPr>
              <a:t>[16]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13350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896"/>
                </a:solidFill>
              </a:rPr>
              <a:t>Çelik Ertuğrul y Bitirim (2025)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8912" y="1581912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Revisión sistemática de sistemas de recomendación laboral. Consolidan F1-score y similitud coseno como métricas estándar. Los modelos BERT superan a TF-IDF.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2432304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0D2137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50545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896"/>
                </a:solidFill>
              </a:rPr>
              <a:t>[17]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" y="25054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896"/>
                </a:solidFill>
              </a:rPr>
              <a:t>Khider, Meziane y Hammoudi (2025)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8912" y="2752344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Arquitectura híbrida con filtrado colaborativo y embeddings contextuales. Compensa la escasez de historial de usuarios informales.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3602736"/>
            <a:ext cx="4160520" cy="1078992"/>
          </a:xfrm>
          <a:prstGeom prst="roundRect">
            <a:avLst>
              <a:gd name="adj" fmla="val 8475"/>
            </a:avLst>
          </a:prstGeom>
          <a:solidFill>
            <a:srgbClr val="0D2137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6758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896"/>
                </a:solidFill>
              </a:rPr>
              <a:t>[19]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" y="367588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896"/>
                </a:solidFill>
              </a:rPr>
              <a:t>Patil et al. (2026) — SkillBridge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8912" y="3922776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Plataforma de empleo con IA para trabajadores de jornal en India. Reduce tiempo de búsqueda y eleva tasa de colocación. Referente directo.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1261872"/>
            <a:ext cx="4069080" cy="1078992"/>
          </a:xfrm>
          <a:prstGeom prst="roundRect">
            <a:avLst>
              <a:gd name="adj" fmla="val 8475"/>
            </a:avLst>
          </a:prstGeom>
          <a:solidFill>
            <a:srgbClr val="0D2137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133502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[2]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257800" y="133502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Arroyo Yupanqui et al. (2024)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73752" y="1581912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Descomposición econométrica de la brecha salarial en la Zona Central. La informalidad en Junín supera el 75%; fallos de intermediación explican la brecha.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2432304"/>
            <a:ext cx="4069080" cy="1078992"/>
          </a:xfrm>
          <a:prstGeom prst="roundRect">
            <a:avLst>
              <a:gd name="adj" fmla="val 8475"/>
            </a:avLst>
          </a:prstGeom>
          <a:solidFill>
            <a:srgbClr val="0D2137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250545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[15]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57800" y="25054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Palomino-Crispín et al. (2021)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73752" y="2752344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Inserción laboral y empleabilidad de egresados de la Macro Región Centro. Documenta subempleo y desconexión entre formación y mercado.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54880" y="3602736"/>
            <a:ext cx="4069080" cy="1078992"/>
          </a:xfrm>
          <a:prstGeom prst="roundRect">
            <a:avLst>
              <a:gd name="adj" fmla="val 8475"/>
            </a:avLst>
          </a:prstGeom>
          <a:solidFill>
            <a:srgbClr val="0D2137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6758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[7]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57800" y="367588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Palomino Sayritupac (2026)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73752" y="3922776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Determinantes socioeconómicos del empleo informal en Perú (2020-2022). Ser menor de 25 años eleva en 10.2 pp la probabilidad de informalidad.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</a:rPr>
              <a:t>BASES TEÓRICAS  ·  DEFINICIÓN DE TÉRMINOS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A896"/>
                </a:solidFill>
              </a:rPr>
              <a:t>BASES TEÓRICAS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216152"/>
            <a:ext cx="5029200" cy="548640"/>
          </a:xfrm>
          <a:prstGeom prst="roundRect">
            <a:avLst>
              <a:gd name="adj" fmla="val 11667"/>
            </a:avLst>
          </a:prstGeom>
          <a:solidFill>
            <a:srgbClr val="0D2137"/>
          </a:solidFill>
          <a:ln w="508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7101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Intermediación Laboral: 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Mecanismos e instituciones que articulan oferta y demanda de trabajo. En América Latina han sido débiles y orientados al segmento formal.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837944"/>
            <a:ext cx="5029200" cy="548640"/>
          </a:xfrm>
          <a:prstGeom prst="roundRect">
            <a:avLst>
              <a:gd name="adj" fmla="val 11667"/>
            </a:avLst>
          </a:prstGeom>
          <a:solidFill>
            <a:srgbClr val="0D2137"/>
          </a:solidFill>
          <a:ln w="508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8928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Machine Learning: 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Algoritmos que aprenden patrones desde datos. El aprendizaje supervisado es el paradigma más adoptado para clasificar competencias y emparejar perfiles.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2459736"/>
            <a:ext cx="5029200" cy="548640"/>
          </a:xfrm>
          <a:prstGeom prst="roundRect">
            <a:avLst>
              <a:gd name="adj" fmla="val 11667"/>
            </a:avLst>
          </a:prstGeom>
          <a:solidFill>
            <a:srgbClr val="0D2137"/>
          </a:solidFill>
          <a:ln w="508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5146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NLP y Embeddings (BERT/BETO): 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Representación semántica de CVs y ofertas mediante embeddings contextuales, superando la coincidencia léxica de TF-IDF. NER extrae habilidades automáticamente.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3081528"/>
            <a:ext cx="5029200" cy="548640"/>
          </a:xfrm>
          <a:prstGeom prst="roundRect">
            <a:avLst>
              <a:gd name="adj" fmla="val 11667"/>
            </a:avLst>
          </a:prstGeom>
          <a:solidFill>
            <a:srgbClr val="0D2137"/>
          </a:solidFill>
          <a:ln w="508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31363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Sistemas Persona-Puesto: 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Emparejamiento bidireccional evaluado con precisión, recall, F1-score y Top-K accuracy.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3703320"/>
            <a:ext cx="5029200" cy="548640"/>
          </a:xfrm>
          <a:prstGeom prst="roundRect">
            <a:avLst>
              <a:gd name="adj" fmla="val 11667"/>
            </a:avLst>
          </a:prstGeom>
          <a:solidFill>
            <a:srgbClr val="0D2137"/>
          </a:solidFill>
          <a:ln w="508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75818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Brechas e Informalidad: 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La brecha entre empleabilidad real y visible afecta a oficios no certificados. En Junín, la informalidad supera el 75% de la PEA.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4325112"/>
            <a:ext cx="5029200" cy="548640"/>
          </a:xfrm>
          <a:prstGeom prst="roundRect">
            <a:avLst>
              <a:gd name="adj" fmla="val 11667"/>
            </a:avLst>
          </a:prstGeom>
          <a:solidFill>
            <a:srgbClr val="0D2137"/>
          </a:solidFill>
          <a:ln w="508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437997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C39A"/>
                </a:solidFill>
              </a:rPr>
              <a:t>Industria 4.0 y Economía Gig: 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La IA puede ampliar o corregir desigualdades laborales según el diseño del sistema.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577840" y="91440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C39A"/>
                </a:solidFill>
              </a:rPr>
              <a:t>TÉRMINOS CLAVE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577840" y="1216152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0D2137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96712" y="12710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Embedding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96712" y="150876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Representación vectorial densa donde la cercanía geométrica refleja similitud semántica entre perfiles y ofertas.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577840" y="2039112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0D2137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96712" y="209397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Similitud coseno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96712" y="233172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Medida del ángulo entre dos vectores que cuantifica la compatibilidad semántica CV-oferta.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577840" y="2862072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0D2137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96712" y="291693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NER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96712" y="31546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Tarea de NLP que identifica entidades como habilidades y títulos; base de extracción de competencias.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577840" y="3685032"/>
            <a:ext cx="3246120" cy="749808"/>
          </a:xfrm>
          <a:prstGeom prst="roundRect">
            <a:avLst>
              <a:gd name="adj" fmla="val 9756"/>
            </a:avLst>
          </a:prstGeom>
          <a:solidFill>
            <a:srgbClr val="0D2137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96712" y="373989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Matching laboral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96712" y="397764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Proceso que vincula perfil con ofertas compatibles, automatizado con algoritmos ML y NLP.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577840" y="452628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028090">
              <a:alpha val="8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4526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2C39A"/>
                </a:solidFill>
              </a:rPr>
              <a:t>F1-score · Filtrado colaborativo · Economía gig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>
                    <a:alpha val="20000"/>
                  </a:srgbClr>
                </a:solidFill>
              </a:rPr>
              <a:t>03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A1628"/>
                </a:solidFill>
              </a:rPr>
              <a:t>CAPÍTULO III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18288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A1628"/>
                </a:solidFill>
              </a:rPr>
              <a:t>Enfoque · Tipo · Nivel · Diseño · Población · Muestra · Técnicas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</a:rPr>
              <a:t>DISEÑO METODOLÓGICO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011680" cy="274320"/>
          </a:xfrm>
          <a:prstGeom prst="roundRect">
            <a:avLst>
              <a:gd name="adj" fmla="val 40000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28090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418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ENFOQUE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Cuantitativo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090"/>
                </a:solidFill>
              </a:rPr>
              <a:t>Aplicado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68880" y="91440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0D2137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914400"/>
            <a:ext cx="2011680" cy="274320"/>
          </a:xfrm>
          <a:prstGeom prst="roundRect">
            <a:avLst>
              <a:gd name="adj" fmla="val 40000"/>
            </a:avLst>
          </a:prstGeom>
          <a:solidFill>
            <a:srgbClr val="00A896">
              <a:alpha val="80000"/>
            </a:srgbClr>
          </a:solidFill>
          <a:ln w="12700">
            <a:solidFill>
              <a:srgbClr val="00A896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9418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NIVEL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468880" y="1234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Explicativo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6888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A896"/>
                </a:solidFill>
              </a:rPr>
              <a:t>Relación causal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17720" y="91440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0D2137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914400"/>
            <a:ext cx="2011680" cy="274320"/>
          </a:xfrm>
          <a:prstGeom prst="roundRect">
            <a:avLst>
              <a:gd name="adj" fmla="val 40000"/>
            </a:avLst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9418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DISEÑO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17720" y="1234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Experimental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1772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C39A"/>
                </a:solidFill>
              </a:rPr>
              <a:t>Pretest – Postest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766560" y="91440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914400"/>
            <a:ext cx="2011680" cy="274320"/>
          </a:xfrm>
          <a:prstGeom prst="roundRect">
            <a:avLst>
              <a:gd name="adj" fmla="val 40000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28090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9418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MUESTRA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766560" y="1234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~320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6656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090"/>
                </a:solidFill>
              </a:rPr>
              <a:t>usuarios / 500 pares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C39A"/>
                </a:solidFill>
              </a:rPr>
              <a:t>POBLACIÓN Y MUESTRA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468880"/>
            <a:ext cx="5029200" cy="1261872"/>
          </a:xfrm>
          <a:prstGeom prst="roundRect">
            <a:avLst>
              <a:gd name="adj" fmla="val 7246"/>
            </a:avLst>
          </a:prstGeom>
          <a:solidFill>
            <a:srgbClr val="0D213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523744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Población: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~3,200 perfiles activos y ~280 ofertas mensuales en la Bolsa de Trabajo DRTPE-Junín. Los tres grupos prioritarios representan ~65% de los registros.
</a:t>
            </a:r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Muestra: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Muestreo probabilístico estratificado de ~320 usuarios (IC 95%, error 5%) + conjunto de evaluación de ≥500 pares currículo-oferta etiquetados.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577840" y="21488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C39A"/>
                </a:solidFill>
              </a:rPr>
              <a:t>TÉCNICAS DE RECOLECCIÓN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577840" y="2468880"/>
            <a:ext cx="3246120" cy="365760"/>
          </a:xfrm>
          <a:prstGeom prst="roundRect">
            <a:avLst>
              <a:gd name="adj" fmla="val 17500"/>
            </a:avLst>
          </a:prstGeom>
          <a:solidFill>
            <a:srgbClr val="0D2137"/>
          </a:solidFill>
          <a:ln w="508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505456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📋  Análisis documental de registros de la Bolsa de Trabajo (perfiles, ofertas, historial de colocaciones).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577840" y="2907792"/>
            <a:ext cx="3246120" cy="365760"/>
          </a:xfrm>
          <a:prstGeom prst="roundRect">
            <a:avLst>
              <a:gd name="adj" fmla="val 17500"/>
            </a:avLst>
          </a:prstGeom>
          <a:solidFill>
            <a:srgbClr val="0D2137"/>
          </a:solidFill>
          <a:ln w="508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2944368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📊  Encuesta estructurada: escala de usabilidad SUS y percepción de equidad.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577840" y="3346704"/>
            <a:ext cx="3246120" cy="365760"/>
          </a:xfrm>
          <a:prstGeom prst="roundRect">
            <a:avLst>
              <a:gd name="adj" fmla="val 17500"/>
            </a:avLst>
          </a:prstGeom>
          <a:solidFill>
            <a:srgbClr val="0D2137"/>
          </a:solidFill>
          <a:ln w="508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338328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⚡  Benchmarking técnico: F1-score, similitud coseno y Top-K accuracy sobre gold standard.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" y="3822192"/>
            <a:ext cx="8503920" cy="457200"/>
          </a:xfrm>
          <a:prstGeom prst="roundRect">
            <a:avLst>
              <a:gd name="adj" fmla="val 16000"/>
            </a:avLst>
          </a:prstGeom>
          <a:solidFill>
            <a:srgbClr val="028090">
              <a:alpha val="8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82219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C39A"/>
                </a:solidFill>
              </a:rPr>
              <a:t>Análisis estadístico: Prueba t · Wilcoxon · ANOVA · Chi cuadrado  |  Herramientas: Python · FastAPI · React.js · TimescaleDB · Docker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731520"/>
            <a:ext cx="5029200" cy="50292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02C39A">
                    <a:alpha val="30000"/>
                  </a:srgbClr>
                </a:solidFill>
              </a:rPr>
              <a:t>04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2C39A"/>
                </a:solidFill>
              </a:rPr>
              <a:t>CAPÍTULO IV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ADMINISTRACIÓN DEL PROYECTO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8288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Cronograma de Actividades · Presupuesto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</a:rPr>
              <a:t>CRONOGRAMA DE ACTIVIDADES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8503920" cy="749808"/>
          </a:xfrm>
          <a:prstGeom prst="roundRect">
            <a:avLst>
              <a:gd name="adj" fmla="val 12195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60704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60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" y="102412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FASE 01  ·  Diseño y Requisitos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87552" y="129844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Arquitectura del sistema, levantamiento de requisitos con la DRTPE-Junín y preparación del corpus.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0" y="1115568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028090">
              <a:alpha val="8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11155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1er trim. 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1773936"/>
            <a:ext cx="8503920" cy="749808"/>
          </a:xfrm>
          <a:prstGeom prst="roundRect">
            <a:avLst>
              <a:gd name="adj" fmla="val 12195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901952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87552" y="18653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FASE 02  ·  Desarrollo ML y NLP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87552" y="213969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Módulo de extracción y vectorización NLP + módulo de Machine Learning para el matching.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58000" y="1956816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00A896">
              <a:alpha val="8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9568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2do–3er trim. 2026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2615184"/>
            <a:ext cx="8503920" cy="749808"/>
          </a:xfrm>
          <a:prstGeom prst="roundRect">
            <a:avLst>
              <a:gd name="adj" fmla="val 12195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74320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270662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FASE 03  ·  Integración y Pruebas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87552" y="298094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Integración de módulos, benchmarking interno y ajuste de hiperparámetros.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0" y="2798064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02C39A">
              <a:alpha val="80000"/>
            </a:srgbClr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7980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3er trim. 2026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3456432"/>
            <a:ext cx="8503920" cy="749808"/>
          </a:xfrm>
          <a:prstGeom prst="roundRect">
            <a:avLst>
              <a:gd name="adj" fmla="val 12195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584448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7552" y="354787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FASE 04  ·  Piloto DRTPE-Junín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87552" y="382219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Implementación piloto en la DRTPE-Junín; recolección de datos pretest y postest.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58000" y="3639312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028090">
              <a:alpha val="8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36393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4to trim. 2026 – 1er trim. 2027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0040" y="4297680"/>
            <a:ext cx="8503920" cy="749808"/>
          </a:xfrm>
          <a:prstGeom prst="roundRect">
            <a:avLst>
              <a:gd name="adj" fmla="val 12195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425696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425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87552" y="43891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FASE 05  ·  Análisis y Redacción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87552" y="466344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Análisis estadístico, evaluación de hipótesis y redacción del informe final.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858000" y="448056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00A896">
              <a:alpha val="8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4480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2do semestre 2027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</a:rPr>
              <a:t>PRESUPUESTO DEL PROYECTO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926080" cy="1371600"/>
          </a:xfrm>
          <a:prstGeom prst="roundRect">
            <a:avLst>
              <a:gd name="adj" fmla="val 10000"/>
            </a:avLst>
          </a:prstGeom>
          <a:solidFill>
            <a:srgbClr val="028090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2C39A"/>
                </a:solidFill>
              </a:rPr>
              <a:t>TOTAL GENERAL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S/ 12,850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48840" y="1463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.00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0440" y="914400"/>
          <a:ext cx="5303520" cy="2926080"/>
        </p:xfrm>
        <a:graphic>
          <a:graphicData uri="http://schemas.openxmlformats.org/drawingml/2006/table">
            <a:tbl>
              <a:tblPr/>
              <a:tblGrid>
                <a:gridCol w="374904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Categoría de Gasto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Monto (S/)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1. Recursos humanos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2C39A"/>
                          </a:solidFill>
                        </a:rPr>
                        <a:t>6,200.00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2. Equipamiento y hardware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2C39A"/>
                          </a:solidFill>
                        </a:rPr>
                        <a:t>2,500.00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3. Software y servicios en la nube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2C39A"/>
                          </a:solidFill>
                        </a:rPr>
                        <a:t>1,550.00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4. Materiales y servicios de soporte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2C39A"/>
                          </a:solidFill>
                        </a:rPr>
                        <a:t>1,100.00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5. Difusión y publicación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2C39A"/>
                          </a:solidFill>
                        </a:rPr>
                        <a:t>1,500.00</a:t>
                      </a:r>
                      <a:endParaRPr lang="en-US" sz="900" dirty="0"/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0" descr=""/>
          <p:cNvGraphicFramePr/>
          <p:nvPr/>
        </p:nvGraphicFramePr>
        <p:xfrm>
          <a:off x="320040" y="2423160"/>
          <a:ext cx="292608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</a:rPr>
              <a:t>REFERENCIAS BIBLIOGRÁFICAS  ·  ANEXOS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A896"/>
                </a:solidFill>
              </a:rPr>
              <a:t>SELECCIÓN DE REFERENCIAS (43 fuentes)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216152"/>
            <a:ext cx="5029200" cy="320040"/>
          </a:xfrm>
          <a:prstGeom prst="roundRect">
            <a:avLst>
              <a:gd name="adj" fmla="val 17143"/>
            </a:avLst>
          </a:prstGeom>
          <a:solidFill>
            <a:srgbClr val="0D2137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527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[16] Çelik Ertuğrul &amp; Bitirim (2025). Job recommender systems. Journal of Big Data.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320040" y="1581912"/>
            <a:ext cx="5029200" cy="320040"/>
          </a:xfrm>
          <a:prstGeom prst="roundRect">
            <a:avLst>
              <a:gd name="adj" fmla="val 17143"/>
            </a:avLst>
          </a:prstGeom>
          <a:solidFill>
            <a:srgbClr val="0D2137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6184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[17] Khider et al. (2025). Hybrid Job Recommender System. NLPIR 2024.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320040" y="1947672"/>
            <a:ext cx="5029200" cy="320040"/>
          </a:xfrm>
          <a:prstGeom prst="roundRect">
            <a:avLst>
              <a:gd name="adj" fmla="val 17143"/>
            </a:avLst>
          </a:prstGeom>
          <a:solidFill>
            <a:srgbClr val="0D2137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98424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[18] Tang et al. (2025). Explainable person-job recommendations. Frontiers in AI.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320040" y="2313432"/>
            <a:ext cx="5029200" cy="320040"/>
          </a:xfrm>
          <a:prstGeom prst="roundRect">
            <a:avLst>
              <a:gd name="adj" fmla="val 17143"/>
            </a:avLst>
          </a:prstGeom>
          <a:solidFill>
            <a:srgbClr val="0D2137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35000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[19] Patil et al. (2026). SkillBridge: AI Employment Platform. IJEDR.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320040" y="2679192"/>
            <a:ext cx="5029200" cy="320040"/>
          </a:xfrm>
          <a:prstGeom prst="roundRect">
            <a:avLst>
              <a:gd name="adj" fmla="val 17143"/>
            </a:avLst>
          </a:prstGeom>
          <a:solidFill>
            <a:srgbClr val="0D2137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71576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[2]  Arroyo Yupanqui et al. (2024). Informalidad y brecha salarial en la Zona Central.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320040" y="3044952"/>
            <a:ext cx="5029200" cy="320040"/>
          </a:xfrm>
          <a:prstGeom prst="roundRect">
            <a:avLst>
              <a:gd name="adj" fmla="val 17143"/>
            </a:avLst>
          </a:prstGeom>
          <a:solidFill>
            <a:srgbClr val="0D2137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0815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[7]  Palomino Sayritupac (2026). Determinantes del empleo informal en Perú.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320040" y="3410712"/>
            <a:ext cx="5029200" cy="320040"/>
          </a:xfrm>
          <a:prstGeom prst="roundRect">
            <a:avLst>
              <a:gd name="adj" fmla="val 17143"/>
            </a:avLst>
          </a:prstGeom>
          <a:solidFill>
            <a:srgbClr val="0D2137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4472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[15] Palomino-Crispín et al. (2021). Inserción laboral de egresados, Macro Región Centro.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320040" y="3776472"/>
            <a:ext cx="5029200" cy="320040"/>
          </a:xfrm>
          <a:prstGeom prst="roundRect">
            <a:avLst>
              <a:gd name="adj" fmla="val 17143"/>
            </a:avLst>
          </a:prstGeom>
          <a:solidFill>
            <a:srgbClr val="0D2137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81304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[21] Hernández-Sampieri &amp; Mendoza Torres (2018). Metodología de la investigación. McGraw-Hill.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320040" y="4142232"/>
            <a:ext cx="5029200" cy="320040"/>
          </a:xfrm>
          <a:prstGeom prst="roundRect">
            <a:avLst>
              <a:gd name="adj" fmla="val 17143"/>
            </a:avLst>
          </a:prstGeom>
          <a:solidFill>
            <a:srgbClr val="0D2137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417880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[36] Bishop (2006). Pattern Recognition and Machine Learning. Springer.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320040" y="4507992"/>
            <a:ext cx="5029200" cy="320040"/>
          </a:xfrm>
          <a:prstGeom prst="roundRect">
            <a:avLst>
              <a:gd name="adj" fmla="val 17143"/>
            </a:avLst>
          </a:prstGeom>
          <a:solidFill>
            <a:srgbClr val="0D2137"/>
          </a:solidFill>
          <a:ln w="381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454456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[37] Jurafsky &amp; Martin (2025). Speech and Language Processing.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5577840" y="91440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C39A"/>
                </a:solidFill>
              </a:rPr>
              <a:t>DOCUMENTOS ANEXOS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77840" y="1216152"/>
            <a:ext cx="3246120" cy="493776"/>
          </a:xfrm>
          <a:prstGeom prst="roundRect">
            <a:avLst>
              <a:gd name="adj" fmla="val 14815"/>
            </a:avLst>
          </a:prstGeom>
          <a:solidFill>
            <a:srgbClr val="0D2137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87568" y="12893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Anexo 01 · Matriz de Consistencia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577840" y="1783080"/>
            <a:ext cx="3246120" cy="493776"/>
          </a:xfrm>
          <a:prstGeom prst="roundRect">
            <a:avLst>
              <a:gd name="adj" fmla="val 14815"/>
            </a:avLst>
          </a:prstGeom>
          <a:solidFill>
            <a:srgbClr val="0D2137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87568" y="1856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Anexo 02 · Matriz de Operacionalización de Variables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577840" y="2350008"/>
            <a:ext cx="3246120" cy="493776"/>
          </a:xfrm>
          <a:prstGeom prst="roundRect">
            <a:avLst>
              <a:gd name="adj" fmla="val 14815"/>
            </a:avLst>
          </a:prstGeom>
          <a:solidFill>
            <a:srgbClr val="0D2137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87568" y="2423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Anexo 03 · Operacionalización del Instrumento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577840" y="2916936"/>
            <a:ext cx="3246120" cy="493776"/>
          </a:xfrm>
          <a:prstGeom prst="roundRect">
            <a:avLst>
              <a:gd name="adj" fmla="val 14815"/>
            </a:avLst>
          </a:prstGeom>
          <a:solidFill>
            <a:srgbClr val="0D2137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87568" y="29900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Anexo 04 · Instrumentos: CUEV-T, CEE-E y FET-IA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577840" y="3483864"/>
            <a:ext cx="3246120" cy="493776"/>
          </a:xfrm>
          <a:prstGeom prst="roundRect">
            <a:avLst>
              <a:gd name="adj" fmla="val 14815"/>
            </a:avLst>
          </a:prstGeom>
          <a:solidFill>
            <a:srgbClr val="0D2137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87568" y="35570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Anexo 05 · Consentimiento Informado (Ley N.° 29733)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274320"/>
            <a:ext cx="3657600" cy="36576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371600"/>
            <a:ext cx="3200400" cy="3200400"/>
          </a:xfrm>
          <a:prstGeom prst="ellipse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5800" dirty="0"/>
          </a:p>
        </p:txBody>
      </p:sp>
      <p:sp>
        <p:nvSpPr>
          <p:cNvPr id="6" name="Shape 4"/>
          <p:cNvSpPr/>
          <p:nvPr/>
        </p:nvSpPr>
        <p:spPr>
          <a:xfrm>
            <a:off x="3200400" y="2011680"/>
            <a:ext cx="27432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Bach. William Mikeiel Rojas Peña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Bach. Carlos Alberto Tovar Sánchez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2C39A"/>
                </a:solidFill>
              </a:rPr>
              <a:t>Sistema de Intermediación Laboral · Machine Learning · NLP · DRTPE Junín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Universidad Continental  ·  Escuela de Ingeniería de Sistemas e Informática  · 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Tesis - Sistema de Intermediación Laboral ML/NLP</dc:title>
  <dc:subject>PptxGenJS Presentation</dc:subject>
  <dc:creator>PptxGenJS</dc:creator>
  <cp:lastModifiedBy>PptxGenJS</cp:lastModifiedBy>
  <cp:revision>1</cp:revision>
  <dcterms:created xsi:type="dcterms:W3CDTF">2026-06-26T04:35:05Z</dcterms:created>
  <dcterms:modified xsi:type="dcterms:W3CDTF">2026-06-26T04:35:05Z</dcterms:modified>
</cp:coreProperties>
</file>